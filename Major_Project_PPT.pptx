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Georgia Pro Bold" charset="1" panose="02040802050405020203"/>
      <p:regular r:id="rId18"/>
    </p:embeddedFont>
    <p:embeddedFont>
      <p:font typeface="Georgia Pro" charset="1" panose="020405020504050203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27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3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5.jpe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https://www.sciencedirect.com/science/article/pii/S0952197623016299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40661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56824" y="3979070"/>
            <a:ext cx="17631176" cy="2657921"/>
            <a:chOff x="0" y="0"/>
            <a:chExt cx="23508234" cy="35438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508235" cy="3543895"/>
            </a:xfrm>
            <a:custGeom>
              <a:avLst/>
              <a:gdLst/>
              <a:ahLst/>
              <a:cxnLst/>
              <a:rect r="r" b="b" t="t" l="l"/>
              <a:pathLst>
                <a:path h="3543895" w="23508235">
                  <a:moveTo>
                    <a:pt x="0" y="0"/>
                  </a:moveTo>
                  <a:lnTo>
                    <a:pt x="23508235" y="0"/>
                  </a:lnTo>
                  <a:lnTo>
                    <a:pt x="23508235" y="3543895"/>
                  </a:lnTo>
                  <a:lnTo>
                    <a:pt x="0" y="35438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3508234" cy="358199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810"/>
                </a:lnSpc>
              </a:pPr>
              <a:r>
                <a:rPr lang="en-US" sz="6262" b="true">
                  <a:solidFill>
                    <a:srgbClr val="443728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Underwater Image Enhancement Using NUCE and PSO Techniques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31055" y="939552"/>
            <a:ext cx="14625489" cy="2657921"/>
            <a:chOff x="0" y="0"/>
            <a:chExt cx="19500652" cy="354389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00653" cy="3543895"/>
            </a:xfrm>
            <a:custGeom>
              <a:avLst/>
              <a:gdLst/>
              <a:ahLst/>
              <a:cxnLst/>
              <a:rect r="r" b="b" t="t" l="l"/>
              <a:pathLst>
                <a:path h="3543895" w="19500653">
                  <a:moveTo>
                    <a:pt x="0" y="0"/>
                  </a:moveTo>
                  <a:lnTo>
                    <a:pt x="19500653" y="0"/>
                  </a:lnTo>
                  <a:lnTo>
                    <a:pt x="19500653" y="3543895"/>
                  </a:lnTo>
                  <a:lnTo>
                    <a:pt x="0" y="35438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9500652" cy="357247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 b="true">
                  <a:solidFill>
                    <a:srgbClr val="443728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RAJIV GANDHI UNIVERSITY OF KNOWLEDGE TECHNOLOGIES,BASAR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5174258" y="654652"/>
            <a:ext cx="2687973" cy="2419176"/>
          </a:xfrm>
          <a:custGeom>
            <a:avLst/>
            <a:gdLst/>
            <a:ahLst/>
            <a:cxnLst/>
            <a:rect r="r" b="b" t="t" l="l"/>
            <a:pathLst>
              <a:path h="2419176" w="2687973">
                <a:moveTo>
                  <a:pt x="0" y="0"/>
                </a:moveTo>
                <a:lnTo>
                  <a:pt x="2687973" y="0"/>
                </a:lnTo>
                <a:lnTo>
                  <a:pt x="2687973" y="2419176"/>
                </a:lnTo>
                <a:lnTo>
                  <a:pt x="0" y="24191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534786" y="6636991"/>
            <a:ext cx="11332228" cy="1668066"/>
            <a:chOff x="0" y="0"/>
            <a:chExt cx="24075926" cy="35438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075926" cy="3543895"/>
            </a:xfrm>
            <a:custGeom>
              <a:avLst/>
              <a:gdLst/>
              <a:ahLst/>
              <a:cxnLst/>
              <a:rect r="r" b="b" t="t" l="l"/>
              <a:pathLst>
                <a:path h="3543895" w="24075926">
                  <a:moveTo>
                    <a:pt x="0" y="0"/>
                  </a:moveTo>
                  <a:lnTo>
                    <a:pt x="24075926" y="0"/>
                  </a:lnTo>
                  <a:lnTo>
                    <a:pt x="24075926" y="3543895"/>
                  </a:lnTo>
                  <a:lnTo>
                    <a:pt x="0" y="35438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24075926" cy="356294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567"/>
                </a:lnSpc>
              </a:pPr>
              <a:r>
                <a:rPr lang="en-US" sz="3662" b="true">
                  <a:solidFill>
                    <a:srgbClr val="443728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Guide: Mr.B.Venkat Raman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34786" y="7471024"/>
            <a:ext cx="8801476" cy="3134120"/>
            <a:chOff x="0" y="0"/>
            <a:chExt cx="18699209" cy="665860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699209" cy="6658606"/>
            </a:xfrm>
            <a:custGeom>
              <a:avLst/>
              <a:gdLst/>
              <a:ahLst/>
              <a:cxnLst/>
              <a:rect r="r" b="b" t="t" l="l"/>
              <a:pathLst>
                <a:path h="6658606" w="18699209">
                  <a:moveTo>
                    <a:pt x="0" y="0"/>
                  </a:moveTo>
                  <a:lnTo>
                    <a:pt x="18699209" y="0"/>
                  </a:lnTo>
                  <a:lnTo>
                    <a:pt x="18699209" y="6658606"/>
                  </a:lnTo>
                  <a:lnTo>
                    <a:pt x="0" y="66586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8699209" cy="668718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816"/>
                </a:lnSpc>
              </a:pPr>
              <a:r>
                <a:rPr lang="en-US" sz="3862">
                  <a:solidFill>
                    <a:srgbClr val="443728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Renuka Thanniru(B191002)</a:t>
              </a:r>
            </a:p>
            <a:p>
              <a:pPr algn="l">
                <a:lnSpc>
                  <a:spcPts val="4816"/>
                </a:lnSpc>
              </a:pPr>
              <a:r>
                <a:rPr lang="en-US" sz="3862">
                  <a:solidFill>
                    <a:srgbClr val="443728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Blesseena Yerra(B192121)</a:t>
              </a:r>
            </a:p>
            <a:p>
              <a:pPr algn="l">
                <a:lnSpc>
                  <a:spcPts val="4816"/>
                </a:lnSpc>
              </a:pPr>
              <a:r>
                <a:rPr lang="en-US" sz="3862">
                  <a:solidFill>
                    <a:srgbClr val="443728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Harshitha  Vallabudasu(B191476)</a:t>
              </a:r>
            </a:p>
            <a:p>
              <a:pPr algn="l">
                <a:lnSpc>
                  <a:spcPts val="4816"/>
                </a:lnSpc>
              </a:pPr>
            </a:p>
            <a:p>
              <a:pPr algn="l">
                <a:lnSpc>
                  <a:spcPts val="4817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877686" y="8772525"/>
            <a:ext cx="5666114" cy="1668066"/>
            <a:chOff x="0" y="0"/>
            <a:chExt cx="12037963" cy="354389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037964" cy="3543895"/>
            </a:xfrm>
            <a:custGeom>
              <a:avLst/>
              <a:gdLst/>
              <a:ahLst/>
              <a:cxnLst/>
              <a:rect r="r" b="b" t="t" l="l"/>
              <a:pathLst>
                <a:path h="3543895" w="12037964">
                  <a:moveTo>
                    <a:pt x="0" y="0"/>
                  </a:moveTo>
                  <a:lnTo>
                    <a:pt x="12037964" y="0"/>
                  </a:lnTo>
                  <a:lnTo>
                    <a:pt x="12037964" y="3543895"/>
                  </a:lnTo>
                  <a:lnTo>
                    <a:pt x="0" y="35438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2037963" cy="356294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694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7" y="2927003"/>
            <a:ext cx="15643920" cy="1141907"/>
            <a:chOff x="0" y="0"/>
            <a:chExt cx="20858560" cy="15225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858559" cy="1522543"/>
            </a:xfrm>
            <a:custGeom>
              <a:avLst/>
              <a:gdLst/>
              <a:ahLst/>
              <a:cxnLst/>
              <a:rect r="r" b="b" t="t" l="l"/>
              <a:pathLst>
                <a:path h="1522543" w="20858559">
                  <a:moveTo>
                    <a:pt x="0" y="0"/>
                  </a:moveTo>
                  <a:lnTo>
                    <a:pt x="20858559" y="0"/>
                  </a:lnTo>
                  <a:lnTo>
                    <a:pt x="20858559" y="1522543"/>
                  </a:lnTo>
                  <a:lnTo>
                    <a:pt x="0" y="15225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858560" cy="156064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935"/>
                </a:lnSpc>
              </a:pPr>
              <a:r>
                <a:rPr lang="en-US" sz="6362" b="true">
                  <a:solidFill>
                    <a:srgbClr val="443728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Introduction &amp; Literature Review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92238" y="4521696"/>
            <a:ext cx="3544044" cy="639817"/>
            <a:chOff x="0" y="0"/>
            <a:chExt cx="4725392" cy="8530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725392" cy="853089"/>
            </a:xfrm>
            <a:custGeom>
              <a:avLst/>
              <a:gdLst/>
              <a:ahLst/>
              <a:cxnLst/>
              <a:rect r="r" b="b" t="t" l="l"/>
              <a:pathLst>
                <a:path h="853089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853089"/>
                  </a:lnTo>
                  <a:lnTo>
                    <a:pt x="0" y="8530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4725392" cy="88166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437"/>
                </a:lnSpc>
              </a:pPr>
              <a:r>
                <a:rPr lang="en-US" sz="3549" b="true">
                  <a:solidFill>
                    <a:srgbClr val="443728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Introduction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92238" y="5818663"/>
            <a:ext cx="7805886" cy="1141074"/>
            <a:chOff x="0" y="0"/>
            <a:chExt cx="10407848" cy="152143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07848" cy="1521432"/>
            </a:xfrm>
            <a:custGeom>
              <a:avLst/>
              <a:gdLst/>
              <a:ahLst/>
              <a:cxnLst/>
              <a:rect r="r" b="b" t="t" l="l"/>
              <a:pathLst>
                <a:path h="1521432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1521432"/>
                  </a:lnTo>
                  <a:lnTo>
                    <a:pt x="0" y="15214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33350"/>
              <a:ext cx="10407848" cy="165478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450550" indent="-225275" lvl="1">
                <a:lnSpc>
                  <a:spcPts val="4865"/>
                </a:lnSpc>
                <a:buFont typeface="Arial"/>
                <a:buChar char="•"/>
              </a:pPr>
              <a:r>
                <a:rPr lang="en-US" sz="2987">
                  <a:solidFill>
                    <a:srgbClr val="443728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Critical for marine research, navigation, archaeology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92237" y="7143899"/>
            <a:ext cx="7805886" cy="1141074"/>
            <a:chOff x="0" y="0"/>
            <a:chExt cx="10407848" cy="15214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07848" cy="1521432"/>
            </a:xfrm>
            <a:custGeom>
              <a:avLst/>
              <a:gdLst/>
              <a:ahLst/>
              <a:cxnLst/>
              <a:rect r="r" b="b" t="t" l="l"/>
              <a:pathLst>
                <a:path h="1521432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1521432"/>
                  </a:lnTo>
                  <a:lnTo>
                    <a:pt x="0" y="15214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33350"/>
              <a:ext cx="10407848" cy="165478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450550" indent="-225275" lvl="1">
                <a:lnSpc>
                  <a:spcPts val="4865"/>
                </a:lnSpc>
                <a:buFont typeface="Arial"/>
                <a:buChar char="•"/>
              </a:pPr>
              <a:r>
                <a:rPr lang="en-US" sz="2987">
                  <a:solidFill>
                    <a:srgbClr val="443728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Challenges: color distortion, blurriness, uneven illumination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499401" y="4521696"/>
            <a:ext cx="6058644" cy="639817"/>
            <a:chOff x="0" y="0"/>
            <a:chExt cx="8078192" cy="85308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078192" cy="853089"/>
            </a:xfrm>
            <a:custGeom>
              <a:avLst/>
              <a:gdLst/>
              <a:ahLst/>
              <a:cxnLst/>
              <a:rect r="r" b="b" t="t" l="l"/>
              <a:pathLst>
                <a:path h="853089" w="8078192">
                  <a:moveTo>
                    <a:pt x="0" y="0"/>
                  </a:moveTo>
                  <a:lnTo>
                    <a:pt x="8078192" y="0"/>
                  </a:lnTo>
                  <a:lnTo>
                    <a:pt x="8078192" y="853089"/>
                  </a:lnTo>
                  <a:lnTo>
                    <a:pt x="0" y="8530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8078192" cy="88166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437"/>
                </a:lnSpc>
              </a:pPr>
              <a:r>
                <a:rPr lang="en-US" sz="3549" b="true">
                  <a:solidFill>
                    <a:srgbClr val="443728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Literature Review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453414" y="5818663"/>
            <a:ext cx="7805886" cy="1141074"/>
            <a:chOff x="0" y="0"/>
            <a:chExt cx="10407848" cy="152143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407848" cy="1521432"/>
            </a:xfrm>
            <a:custGeom>
              <a:avLst/>
              <a:gdLst/>
              <a:ahLst/>
              <a:cxnLst/>
              <a:rect r="r" b="b" t="t" l="l"/>
              <a:pathLst>
                <a:path h="1521432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1521432"/>
                  </a:lnTo>
                  <a:lnTo>
                    <a:pt x="0" y="15214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33350"/>
              <a:ext cx="10407848" cy="165478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450550" indent="-225275" lvl="1">
                <a:lnSpc>
                  <a:spcPts val="4865"/>
                </a:lnSpc>
                <a:buFont typeface="Arial"/>
                <a:buChar char="•"/>
              </a:pPr>
              <a:r>
                <a:rPr lang="en-US" sz="2987">
                  <a:solidFill>
                    <a:srgbClr val="443728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Traditional: Histogram Equalization, CLAHE, White-balancing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99401" y="6995811"/>
            <a:ext cx="7805886" cy="605288"/>
            <a:chOff x="0" y="0"/>
            <a:chExt cx="10407848" cy="80705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407848" cy="807051"/>
            </a:xfrm>
            <a:custGeom>
              <a:avLst/>
              <a:gdLst/>
              <a:ahLst/>
              <a:cxnLst/>
              <a:rect r="r" b="b" t="t" l="l"/>
              <a:pathLst>
                <a:path h="807051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807051"/>
                  </a:lnTo>
                  <a:lnTo>
                    <a:pt x="0" y="8070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33350"/>
              <a:ext cx="10407848" cy="94040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450550" indent="-225275" lvl="1">
                <a:lnSpc>
                  <a:spcPts val="4865"/>
                </a:lnSpc>
                <a:buFont typeface="Arial"/>
                <a:buChar char="•"/>
              </a:pPr>
              <a:r>
                <a:rPr lang="en-US" sz="2987">
                  <a:solidFill>
                    <a:srgbClr val="443728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Recent: Deep learning methods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453414" y="7714436"/>
            <a:ext cx="7805886" cy="1141074"/>
            <a:chOff x="0" y="0"/>
            <a:chExt cx="10407848" cy="152143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407848" cy="1521432"/>
            </a:xfrm>
            <a:custGeom>
              <a:avLst/>
              <a:gdLst/>
              <a:ahLst/>
              <a:cxnLst/>
              <a:rect r="r" b="b" t="t" l="l"/>
              <a:pathLst>
                <a:path h="1521432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1521432"/>
                  </a:lnTo>
                  <a:lnTo>
                    <a:pt x="0" y="15214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33350"/>
              <a:ext cx="10407848" cy="165478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450550" indent="-225275" lvl="1">
                <a:lnSpc>
                  <a:spcPts val="4865"/>
                </a:lnSpc>
                <a:buFont typeface="Arial"/>
                <a:buChar char="•"/>
              </a:pPr>
              <a:r>
                <a:rPr lang="en-US" sz="2987">
                  <a:solidFill>
                    <a:srgbClr val="443728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Limitations: Over-enhancement, detail loss, high cost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sp>
        <p:nvSpPr>
          <p:cNvPr name="Freeform 6" id="6" descr="preencoded.png"/>
          <p:cNvSpPr/>
          <p:nvPr/>
        </p:nvSpPr>
        <p:spPr>
          <a:xfrm flipH="false" flipV="false" rot="0">
            <a:off x="0" y="0"/>
            <a:ext cx="18288000" cy="3544044"/>
          </a:xfrm>
          <a:custGeom>
            <a:avLst/>
            <a:gdLst/>
            <a:ahLst/>
            <a:cxnLst/>
            <a:rect r="r" b="b" t="t" l="l"/>
            <a:pathLst>
              <a:path h="3544044" w="18288000">
                <a:moveTo>
                  <a:pt x="0" y="0"/>
                </a:moveTo>
                <a:lnTo>
                  <a:pt x="18288000" y="0"/>
                </a:lnTo>
                <a:lnTo>
                  <a:pt x="18288000" y="3544044"/>
                </a:lnTo>
                <a:lnTo>
                  <a:pt x="0" y="35440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" t="0" r="-1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92238" y="4848820"/>
            <a:ext cx="13919001" cy="1141907"/>
            <a:chOff x="0" y="0"/>
            <a:chExt cx="18558668" cy="152254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558669" cy="1522543"/>
            </a:xfrm>
            <a:custGeom>
              <a:avLst/>
              <a:gdLst/>
              <a:ahLst/>
              <a:cxnLst/>
              <a:rect r="r" b="b" t="t" l="l"/>
              <a:pathLst>
                <a:path h="1522543" w="18558669">
                  <a:moveTo>
                    <a:pt x="0" y="0"/>
                  </a:moveTo>
                  <a:lnTo>
                    <a:pt x="18558669" y="0"/>
                  </a:lnTo>
                  <a:lnTo>
                    <a:pt x="18558669" y="1522543"/>
                  </a:lnTo>
                  <a:lnTo>
                    <a:pt x="0" y="15225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8558668" cy="156064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935"/>
                </a:lnSpc>
              </a:pPr>
              <a:r>
                <a:rPr lang="en-US" sz="6362" b="true">
                  <a:solidFill>
                    <a:srgbClr val="443728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Problem Statement &amp; Objectives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87475" y="6155234"/>
            <a:ext cx="647402" cy="647403"/>
            <a:chOff x="0" y="0"/>
            <a:chExt cx="863203" cy="8632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BE2E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D1C8C6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98575" y="6213128"/>
            <a:ext cx="425202" cy="735097"/>
            <a:chOff x="0" y="0"/>
            <a:chExt cx="566937" cy="9801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6937" cy="980130"/>
            </a:xfrm>
            <a:custGeom>
              <a:avLst/>
              <a:gdLst/>
              <a:ahLst/>
              <a:cxnLst/>
              <a:rect r="r" b="b" t="t" l="l"/>
              <a:pathLst>
                <a:path h="980130" w="566937">
                  <a:moveTo>
                    <a:pt x="0" y="0"/>
                  </a:moveTo>
                  <a:lnTo>
                    <a:pt x="566937" y="0"/>
                  </a:lnTo>
                  <a:lnTo>
                    <a:pt x="566937" y="980130"/>
                  </a:lnTo>
                  <a:lnTo>
                    <a:pt x="0" y="9801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66675"/>
              <a:ext cx="566937" cy="91345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4112"/>
                </a:lnSpc>
              </a:pPr>
              <a:r>
                <a:rPr lang="en-US" sz="4112" b="true">
                  <a:solidFill>
                    <a:srgbClr val="443728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913632" y="6257330"/>
            <a:ext cx="3544044" cy="639817"/>
            <a:chOff x="0" y="0"/>
            <a:chExt cx="4725392" cy="85308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725392" cy="853089"/>
            </a:xfrm>
            <a:custGeom>
              <a:avLst/>
              <a:gdLst/>
              <a:ahLst/>
              <a:cxnLst/>
              <a:rect r="r" b="b" t="t" l="l"/>
              <a:pathLst>
                <a:path h="853089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853089"/>
                  </a:lnTo>
                  <a:lnTo>
                    <a:pt x="0" y="8530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4725392" cy="88166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437"/>
                </a:lnSpc>
              </a:pPr>
              <a:r>
                <a:rPr lang="en-US" sz="3549" b="true">
                  <a:solidFill>
                    <a:srgbClr val="443728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Problem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913633" y="7163847"/>
            <a:ext cx="7053262" cy="1141074"/>
            <a:chOff x="0" y="0"/>
            <a:chExt cx="9404350" cy="15214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404350" cy="1521432"/>
            </a:xfrm>
            <a:custGeom>
              <a:avLst/>
              <a:gdLst/>
              <a:ahLst/>
              <a:cxnLst/>
              <a:rect r="r" b="b" t="t" l="l"/>
              <a:pathLst>
                <a:path h="1521432" w="9404350">
                  <a:moveTo>
                    <a:pt x="0" y="0"/>
                  </a:moveTo>
                  <a:lnTo>
                    <a:pt x="9404350" y="0"/>
                  </a:lnTo>
                  <a:lnTo>
                    <a:pt x="9404350" y="1521432"/>
                  </a:lnTo>
                  <a:lnTo>
                    <a:pt x="0" y="15214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33350"/>
              <a:ext cx="9404350" cy="165478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865"/>
                </a:lnSpc>
              </a:pPr>
              <a:r>
                <a:rPr lang="en-US" sz="2987">
                  <a:solidFill>
                    <a:srgbClr val="443728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Correct color distortion and improve contrast.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316491" y="6155234"/>
            <a:ext cx="647403" cy="647403"/>
            <a:chOff x="0" y="0"/>
            <a:chExt cx="863203" cy="86320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BE2E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D1C8C6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427592" y="6213128"/>
            <a:ext cx="425203" cy="735097"/>
            <a:chOff x="0" y="0"/>
            <a:chExt cx="566937" cy="98013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66937" cy="980130"/>
            </a:xfrm>
            <a:custGeom>
              <a:avLst/>
              <a:gdLst/>
              <a:ahLst/>
              <a:cxnLst/>
              <a:rect r="r" b="b" t="t" l="l"/>
              <a:pathLst>
                <a:path h="980130" w="566937">
                  <a:moveTo>
                    <a:pt x="0" y="0"/>
                  </a:moveTo>
                  <a:lnTo>
                    <a:pt x="566937" y="0"/>
                  </a:lnTo>
                  <a:lnTo>
                    <a:pt x="566937" y="980130"/>
                  </a:lnTo>
                  <a:lnTo>
                    <a:pt x="0" y="9801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66675"/>
              <a:ext cx="566937" cy="91345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4112"/>
                </a:lnSpc>
              </a:pPr>
              <a:r>
                <a:rPr lang="en-US" sz="4112" b="true">
                  <a:solidFill>
                    <a:srgbClr val="443728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242649" y="6257330"/>
            <a:ext cx="3544044" cy="639817"/>
            <a:chOff x="0" y="0"/>
            <a:chExt cx="4725392" cy="85308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725392" cy="853089"/>
            </a:xfrm>
            <a:custGeom>
              <a:avLst/>
              <a:gdLst/>
              <a:ahLst/>
              <a:cxnLst/>
              <a:rect r="r" b="b" t="t" l="l"/>
              <a:pathLst>
                <a:path h="853089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853089"/>
                  </a:lnTo>
                  <a:lnTo>
                    <a:pt x="0" y="8530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4725392" cy="88166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437"/>
                </a:lnSpc>
              </a:pPr>
              <a:r>
                <a:rPr lang="en-US" sz="3549" b="true">
                  <a:solidFill>
                    <a:srgbClr val="443728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Objectives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242649" y="6870352"/>
            <a:ext cx="7453312" cy="1141074"/>
            <a:chOff x="0" y="0"/>
            <a:chExt cx="9937750" cy="152143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937750" cy="1521432"/>
            </a:xfrm>
            <a:custGeom>
              <a:avLst/>
              <a:gdLst/>
              <a:ahLst/>
              <a:cxnLst/>
              <a:rect r="r" b="b" t="t" l="l"/>
              <a:pathLst>
                <a:path h="1521432" w="9937750">
                  <a:moveTo>
                    <a:pt x="0" y="0"/>
                  </a:moveTo>
                  <a:lnTo>
                    <a:pt x="9937750" y="0"/>
                  </a:lnTo>
                  <a:lnTo>
                    <a:pt x="9937750" y="1521432"/>
                  </a:lnTo>
                  <a:lnTo>
                    <a:pt x="0" y="15214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33350"/>
              <a:ext cx="9937750" cy="165478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450550" indent="-225275" lvl="1">
                <a:lnSpc>
                  <a:spcPts val="4865"/>
                </a:lnSpc>
                <a:buFont typeface="Arial"/>
                <a:buChar char="•"/>
              </a:pPr>
              <a:r>
                <a:rPr lang="en-US" sz="2987">
                  <a:solidFill>
                    <a:srgbClr val="443728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Neutralize color cast by dominant channels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242649" y="8039184"/>
            <a:ext cx="7653338" cy="531474"/>
            <a:chOff x="0" y="0"/>
            <a:chExt cx="10204450" cy="70863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204450" cy="708632"/>
            </a:xfrm>
            <a:custGeom>
              <a:avLst/>
              <a:gdLst/>
              <a:ahLst/>
              <a:cxnLst/>
              <a:rect r="r" b="b" t="t" l="l"/>
              <a:pathLst>
                <a:path h="708632" w="10204450">
                  <a:moveTo>
                    <a:pt x="0" y="0"/>
                  </a:moveTo>
                  <a:lnTo>
                    <a:pt x="10204450" y="0"/>
                  </a:lnTo>
                  <a:lnTo>
                    <a:pt x="10204450" y="708632"/>
                  </a:lnTo>
                  <a:lnTo>
                    <a:pt x="0" y="7086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33350"/>
              <a:ext cx="10204450" cy="84198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450550" indent="-225275" lvl="1">
                <a:lnSpc>
                  <a:spcPts val="4865"/>
                </a:lnSpc>
                <a:buFont typeface="Arial"/>
                <a:buChar char="•"/>
              </a:pPr>
              <a:r>
                <a:rPr lang="en-US" sz="2987">
                  <a:solidFill>
                    <a:srgbClr val="443728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Enhance contrast via dual-intensity fusion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260061" y="8556575"/>
            <a:ext cx="7053262" cy="531474"/>
            <a:chOff x="0" y="0"/>
            <a:chExt cx="9404350" cy="70863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404350" cy="708632"/>
            </a:xfrm>
            <a:custGeom>
              <a:avLst/>
              <a:gdLst/>
              <a:ahLst/>
              <a:cxnLst/>
              <a:rect r="r" b="b" t="t" l="l"/>
              <a:pathLst>
                <a:path h="708632" w="9404350">
                  <a:moveTo>
                    <a:pt x="0" y="0"/>
                  </a:moveTo>
                  <a:lnTo>
                    <a:pt x="9404350" y="0"/>
                  </a:lnTo>
                  <a:lnTo>
                    <a:pt x="9404350" y="708632"/>
                  </a:lnTo>
                  <a:lnTo>
                    <a:pt x="0" y="7086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33350"/>
              <a:ext cx="9404350" cy="84198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450550" indent="-225275" lvl="1">
                <a:lnSpc>
                  <a:spcPts val="4865"/>
                </a:lnSpc>
                <a:buFont typeface="Arial"/>
                <a:buChar char="•"/>
              </a:pPr>
              <a:r>
                <a:rPr lang="en-US" sz="2987">
                  <a:solidFill>
                    <a:srgbClr val="443728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Use PSO for adaptive enhancement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206037" y="9088049"/>
            <a:ext cx="7053262" cy="531474"/>
            <a:chOff x="0" y="0"/>
            <a:chExt cx="9404350" cy="70863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404350" cy="708632"/>
            </a:xfrm>
            <a:custGeom>
              <a:avLst/>
              <a:gdLst/>
              <a:ahLst/>
              <a:cxnLst/>
              <a:rect r="r" b="b" t="t" l="l"/>
              <a:pathLst>
                <a:path h="708632" w="9404350">
                  <a:moveTo>
                    <a:pt x="0" y="0"/>
                  </a:moveTo>
                  <a:lnTo>
                    <a:pt x="9404350" y="0"/>
                  </a:lnTo>
                  <a:lnTo>
                    <a:pt x="9404350" y="708632"/>
                  </a:lnTo>
                  <a:lnTo>
                    <a:pt x="0" y="7086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33350"/>
              <a:ext cx="9404350" cy="84198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450550" indent="-225275" lvl="1">
                <a:lnSpc>
                  <a:spcPts val="4865"/>
                </a:lnSpc>
                <a:buFont typeface="Arial"/>
                <a:buChar char="•"/>
              </a:pPr>
              <a:r>
                <a:rPr lang="en-US" sz="2987">
                  <a:solidFill>
                    <a:srgbClr val="443728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Sharpen edges with unsharp masking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6463" y="-67730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5137" y="1786923"/>
            <a:ext cx="7088237" cy="1304837"/>
            <a:chOff x="0" y="0"/>
            <a:chExt cx="9450983" cy="17397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450984" cy="1739783"/>
            </a:xfrm>
            <a:custGeom>
              <a:avLst/>
              <a:gdLst/>
              <a:ahLst/>
              <a:cxnLst/>
              <a:rect r="r" b="b" t="t" l="l"/>
              <a:pathLst>
                <a:path h="1739783" w="9450984">
                  <a:moveTo>
                    <a:pt x="0" y="0"/>
                  </a:moveTo>
                  <a:lnTo>
                    <a:pt x="9450984" y="0"/>
                  </a:lnTo>
                  <a:lnTo>
                    <a:pt x="9450984" y="1739783"/>
                  </a:lnTo>
                  <a:lnTo>
                    <a:pt x="0" y="17397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9450983" cy="178740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9057"/>
                </a:lnSpc>
              </a:pPr>
              <a:r>
                <a:rPr lang="en-US" sz="7262" b="true">
                  <a:solidFill>
                    <a:srgbClr val="443728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Methodology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55774" y="3784197"/>
            <a:ext cx="16303526" cy="682003"/>
            <a:chOff x="0" y="0"/>
            <a:chExt cx="21738035" cy="90933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38034" cy="909338"/>
            </a:xfrm>
            <a:custGeom>
              <a:avLst/>
              <a:gdLst/>
              <a:ahLst/>
              <a:cxnLst/>
              <a:rect r="r" b="b" t="t" l="l"/>
              <a:pathLst>
                <a:path h="909338" w="21738034">
                  <a:moveTo>
                    <a:pt x="0" y="0"/>
                  </a:moveTo>
                  <a:lnTo>
                    <a:pt x="21738034" y="0"/>
                  </a:lnTo>
                  <a:lnTo>
                    <a:pt x="21738034" y="909338"/>
                  </a:lnTo>
                  <a:lnTo>
                    <a:pt x="0" y="9093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61925"/>
              <a:ext cx="21738035" cy="107126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817713" indent="-408857" lvl="1">
                <a:lnSpc>
                  <a:spcPts val="6168"/>
                </a:lnSpc>
                <a:buFont typeface="Arial"/>
                <a:buChar char="•"/>
              </a:pPr>
              <a:r>
                <a:rPr lang="en-US" sz="3787">
                  <a:solidFill>
                    <a:srgbClr val="443728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Neutralize color cast by dominant channels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55774" y="4807202"/>
            <a:ext cx="16303526" cy="682003"/>
            <a:chOff x="0" y="0"/>
            <a:chExt cx="21738035" cy="90933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738034" cy="909338"/>
            </a:xfrm>
            <a:custGeom>
              <a:avLst/>
              <a:gdLst/>
              <a:ahLst/>
              <a:cxnLst/>
              <a:rect r="r" b="b" t="t" l="l"/>
              <a:pathLst>
                <a:path h="909338" w="21738034">
                  <a:moveTo>
                    <a:pt x="0" y="0"/>
                  </a:moveTo>
                  <a:lnTo>
                    <a:pt x="21738034" y="0"/>
                  </a:lnTo>
                  <a:lnTo>
                    <a:pt x="21738034" y="909338"/>
                  </a:lnTo>
                  <a:lnTo>
                    <a:pt x="0" y="9093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61925"/>
              <a:ext cx="21738035" cy="107126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817713" indent="-408857" lvl="1">
                <a:lnSpc>
                  <a:spcPts val="6168"/>
                </a:lnSpc>
                <a:buFont typeface="Arial"/>
                <a:buChar char="•"/>
              </a:pPr>
              <a:r>
                <a:rPr lang="en-US" sz="3787">
                  <a:solidFill>
                    <a:srgbClr val="443728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Dual histogram stretching of intensity scales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55774" y="5832105"/>
            <a:ext cx="16303526" cy="682003"/>
            <a:chOff x="0" y="0"/>
            <a:chExt cx="21738035" cy="90933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738034" cy="909338"/>
            </a:xfrm>
            <a:custGeom>
              <a:avLst/>
              <a:gdLst/>
              <a:ahLst/>
              <a:cxnLst/>
              <a:rect r="r" b="b" t="t" l="l"/>
              <a:pathLst>
                <a:path h="909338" w="21738034">
                  <a:moveTo>
                    <a:pt x="0" y="0"/>
                  </a:moveTo>
                  <a:lnTo>
                    <a:pt x="21738034" y="0"/>
                  </a:lnTo>
                  <a:lnTo>
                    <a:pt x="21738034" y="909338"/>
                  </a:lnTo>
                  <a:lnTo>
                    <a:pt x="0" y="9093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61925"/>
              <a:ext cx="21738035" cy="107126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817713" indent="-408857" lvl="1">
                <a:lnSpc>
                  <a:spcPts val="6168"/>
                </a:lnSpc>
                <a:buFont typeface="Arial"/>
                <a:buChar char="•"/>
              </a:pPr>
              <a:r>
                <a:rPr lang="en-US" sz="3787">
                  <a:solidFill>
                    <a:srgbClr val="443728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Fuse intensities using mean averaging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" y="6757900"/>
            <a:ext cx="16303526" cy="682003"/>
            <a:chOff x="0" y="0"/>
            <a:chExt cx="21738035" cy="90933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738034" cy="909338"/>
            </a:xfrm>
            <a:custGeom>
              <a:avLst/>
              <a:gdLst/>
              <a:ahLst/>
              <a:cxnLst/>
              <a:rect r="r" b="b" t="t" l="l"/>
              <a:pathLst>
                <a:path h="909338" w="21738034">
                  <a:moveTo>
                    <a:pt x="0" y="0"/>
                  </a:moveTo>
                  <a:lnTo>
                    <a:pt x="21738034" y="0"/>
                  </a:lnTo>
                  <a:lnTo>
                    <a:pt x="21738034" y="909338"/>
                  </a:lnTo>
                  <a:lnTo>
                    <a:pt x="0" y="9093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61925"/>
              <a:ext cx="21738035" cy="107126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817713" indent="-408857" lvl="1">
                <a:lnSpc>
                  <a:spcPts val="6168"/>
                </a:lnSpc>
                <a:buFont typeface="Arial"/>
                <a:buChar char="•"/>
              </a:pPr>
              <a:r>
                <a:rPr lang="en-US" sz="3787">
                  <a:solidFill>
                    <a:srgbClr val="443728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PSO implementation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28700" y="7563728"/>
            <a:ext cx="16303526" cy="682003"/>
            <a:chOff x="0" y="0"/>
            <a:chExt cx="21738035" cy="90933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738034" cy="909338"/>
            </a:xfrm>
            <a:custGeom>
              <a:avLst/>
              <a:gdLst/>
              <a:ahLst/>
              <a:cxnLst/>
              <a:rect r="r" b="b" t="t" l="l"/>
              <a:pathLst>
                <a:path h="909338" w="21738034">
                  <a:moveTo>
                    <a:pt x="0" y="0"/>
                  </a:moveTo>
                  <a:lnTo>
                    <a:pt x="21738034" y="0"/>
                  </a:lnTo>
                  <a:lnTo>
                    <a:pt x="21738034" y="909338"/>
                  </a:lnTo>
                  <a:lnTo>
                    <a:pt x="0" y="9093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61925"/>
              <a:ext cx="21738035" cy="107126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817713" indent="-408857" lvl="1">
                <a:lnSpc>
                  <a:spcPts val="6168"/>
                </a:lnSpc>
                <a:buFont typeface="Arial"/>
                <a:buChar char="•"/>
              </a:pPr>
              <a:r>
                <a:rPr lang="en-US" sz="3787">
                  <a:solidFill>
                    <a:srgbClr val="443728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Apply unsharp masking to sharpen details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sp>
        <p:nvSpPr>
          <p:cNvPr name="Freeform 6" id="6" descr="preencoded.png">
            <a:hlinkClick r:id="rId4" tooltip="https://gamma.app/?utm_source=made-with-gamma"/>
          </p:cNvPr>
          <p:cNvSpPr/>
          <p:nvPr/>
        </p:nvSpPr>
        <p:spPr>
          <a:xfrm flipH="false" flipV="false" rot="0">
            <a:off x="16049019" y="9686925"/>
            <a:ext cx="2153256" cy="514350"/>
          </a:xfrm>
          <a:custGeom>
            <a:avLst/>
            <a:gdLst/>
            <a:ahLst/>
            <a:cxnLst/>
            <a:rect r="r" b="b" t="t" l="l"/>
            <a:pathLst>
              <a:path h="514350" w="2153256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 descr="preencoded.png"/>
          <p:cNvSpPr/>
          <p:nvPr/>
        </p:nvSpPr>
        <p:spPr>
          <a:xfrm flipH="false" flipV="false" rot="0">
            <a:off x="11430000" y="0"/>
            <a:ext cx="6858000" cy="10287000"/>
          </a:xfrm>
          <a:custGeom>
            <a:avLst/>
            <a:gdLst/>
            <a:ahLst/>
            <a:cxnLst/>
            <a:rect r="r" b="b" t="t" l="l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92237" y="956965"/>
            <a:ext cx="9450438" cy="1087597"/>
            <a:chOff x="0" y="0"/>
            <a:chExt cx="12600583" cy="14501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600584" cy="1450129"/>
            </a:xfrm>
            <a:custGeom>
              <a:avLst/>
              <a:gdLst/>
              <a:ahLst/>
              <a:cxnLst/>
              <a:rect r="r" b="b" t="t" l="l"/>
              <a:pathLst>
                <a:path h="1450129" w="12600584">
                  <a:moveTo>
                    <a:pt x="0" y="0"/>
                  </a:moveTo>
                  <a:lnTo>
                    <a:pt x="12600584" y="0"/>
                  </a:lnTo>
                  <a:lnTo>
                    <a:pt x="12600584" y="1450129"/>
                  </a:lnTo>
                  <a:lnTo>
                    <a:pt x="0" y="145012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600583" cy="148822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561"/>
                </a:lnSpc>
              </a:pPr>
              <a:r>
                <a:rPr lang="en-US" sz="6062" b="true">
                  <a:solidFill>
                    <a:srgbClr val="443728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Implementation Details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87475" y="2263379"/>
            <a:ext cx="4590604" cy="5135016"/>
            <a:chOff x="0" y="0"/>
            <a:chExt cx="6120805" cy="68466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" y="6350"/>
              <a:ext cx="6108065" cy="6833870"/>
            </a:xfrm>
            <a:custGeom>
              <a:avLst/>
              <a:gdLst/>
              <a:ahLst/>
              <a:cxnLst/>
              <a:rect r="r" b="b" t="t" l="l"/>
              <a:pathLst>
                <a:path h="6833870" w="6108065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5949315" y="0"/>
                  </a:lnTo>
                  <a:cubicBezTo>
                    <a:pt x="6036945" y="0"/>
                    <a:pt x="6108065" y="71120"/>
                    <a:pt x="6108065" y="158750"/>
                  </a:cubicBezTo>
                  <a:lnTo>
                    <a:pt x="6108065" y="6675120"/>
                  </a:lnTo>
                  <a:cubicBezTo>
                    <a:pt x="6108065" y="6762876"/>
                    <a:pt x="6036945" y="6833870"/>
                    <a:pt x="5949315" y="6833870"/>
                  </a:cubicBezTo>
                  <a:lnTo>
                    <a:pt x="158750" y="6833870"/>
                  </a:lnTo>
                  <a:cubicBezTo>
                    <a:pt x="71120" y="6833870"/>
                    <a:pt x="0" y="6762750"/>
                    <a:pt x="0" y="6675120"/>
                  </a:cubicBezTo>
                  <a:close/>
                </a:path>
              </a:pathLst>
            </a:custGeom>
            <a:solidFill>
              <a:srgbClr val="EBE2E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120765" cy="6846570"/>
            </a:xfrm>
            <a:custGeom>
              <a:avLst/>
              <a:gdLst/>
              <a:ahLst/>
              <a:cxnLst/>
              <a:rect r="r" b="b" t="t" l="l"/>
              <a:pathLst>
                <a:path h="6846570" w="6120765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5955665" y="0"/>
                  </a:lnTo>
                  <a:lnTo>
                    <a:pt x="5955665" y="6350"/>
                  </a:lnTo>
                  <a:lnTo>
                    <a:pt x="5955665" y="0"/>
                  </a:lnTo>
                  <a:cubicBezTo>
                    <a:pt x="6046851" y="0"/>
                    <a:pt x="6120765" y="73914"/>
                    <a:pt x="6120765" y="165100"/>
                  </a:cubicBezTo>
                  <a:lnTo>
                    <a:pt x="6114415" y="165100"/>
                  </a:lnTo>
                  <a:lnTo>
                    <a:pt x="6120765" y="165100"/>
                  </a:lnTo>
                  <a:lnTo>
                    <a:pt x="6120765" y="6681470"/>
                  </a:lnTo>
                  <a:lnTo>
                    <a:pt x="6114415" y="6681470"/>
                  </a:lnTo>
                  <a:lnTo>
                    <a:pt x="6120765" y="6681470"/>
                  </a:lnTo>
                  <a:cubicBezTo>
                    <a:pt x="6120765" y="6772656"/>
                    <a:pt x="6046851" y="6846570"/>
                    <a:pt x="5955665" y="6846570"/>
                  </a:cubicBezTo>
                  <a:lnTo>
                    <a:pt x="5955665" y="6840220"/>
                  </a:lnTo>
                  <a:lnTo>
                    <a:pt x="5955665" y="6846570"/>
                  </a:lnTo>
                  <a:lnTo>
                    <a:pt x="165100" y="6846570"/>
                  </a:lnTo>
                  <a:lnTo>
                    <a:pt x="165100" y="6840220"/>
                  </a:lnTo>
                  <a:lnTo>
                    <a:pt x="165100" y="6846570"/>
                  </a:lnTo>
                  <a:cubicBezTo>
                    <a:pt x="73914" y="6846570"/>
                    <a:pt x="0" y="6772656"/>
                    <a:pt x="0" y="6681470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681470"/>
                  </a:lnTo>
                  <a:lnTo>
                    <a:pt x="6350" y="6681470"/>
                  </a:lnTo>
                  <a:lnTo>
                    <a:pt x="12700" y="6681470"/>
                  </a:lnTo>
                  <a:cubicBezTo>
                    <a:pt x="12700" y="6765671"/>
                    <a:pt x="80899" y="6833870"/>
                    <a:pt x="165100" y="6833870"/>
                  </a:cubicBezTo>
                  <a:lnTo>
                    <a:pt x="5955665" y="6833870"/>
                  </a:lnTo>
                  <a:cubicBezTo>
                    <a:pt x="6039866" y="6833870"/>
                    <a:pt x="6108065" y="6765671"/>
                    <a:pt x="6108065" y="6681470"/>
                  </a:cubicBezTo>
                  <a:lnTo>
                    <a:pt x="6108065" y="165100"/>
                  </a:lnTo>
                  <a:cubicBezTo>
                    <a:pt x="6108065" y="80899"/>
                    <a:pt x="6039866" y="12700"/>
                    <a:pt x="5955665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D1C8C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85280" y="2561184"/>
            <a:ext cx="3544044" cy="585614"/>
            <a:chOff x="0" y="0"/>
            <a:chExt cx="4725392" cy="7808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725392" cy="780818"/>
            </a:xfrm>
            <a:custGeom>
              <a:avLst/>
              <a:gdLst/>
              <a:ahLst/>
              <a:cxnLst/>
              <a:rect r="r" b="b" t="t" l="l"/>
              <a:pathLst>
                <a:path h="780818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780818"/>
                  </a:lnTo>
                  <a:lnTo>
                    <a:pt x="0" y="780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4725392" cy="79986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062"/>
                </a:lnSpc>
              </a:pPr>
              <a:r>
                <a:rPr lang="en-US" sz="3249" b="true">
                  <a:solidFill>
                    <a:srgbClr val="443728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Programming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85280" y="3174206"/>
            <a:ext cx="3994994" cy="1587069"/>
            <a:chOff x="0" y="0"/>
            <a:chExt cx="5326658" cy="21160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26658" cy="2116092"/>
            </a:xfrm>
            <a:custGeom>
              <a:avLst/>
              <a:gdLst/>
              <a:ahLst/>
              <a:cxnLst/>
              <a:rect r="r" b="b" t="t" l="l"/>
              <a:pathLst>
                <a:path h="2116092" w="5326658">
                  <a:moveTo>
                    <a:pt x="0" y="0"/>
                  </a:moveTo>
                  <a:lnTo>
                    <a:pt x="5326658" y="0"/>
                  </a:lnTo>
                  <a:lnTo>
                    <a:pt x="5326658" y="2116092"/>
                  </a:lnTo>
                  <a:lnTo>
                    <a:pt x="0" y="21160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23825"/>
              <a:ext cx="5326658" cy="223991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376"/>
                </a:lnSpc>
              </a:pPr>
              <a:r>
                <a:rPr lang="en-US" sz="2687">
                  <a:solidFill>
                    <a:srgbClr val="443728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Python with OpenCV, NumPy, Matplotlib libraries.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852071" y="2263379"/>
            <a:ext cx="4590604" cy="5135016"/>
            <a:chOff x="0" y="0"/>
            <a:chExt cx="6120805" cy="68466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6350" y="6350"/>
              <a:ext cx="6108065" cy="6833870"/>
            </a:xfrm>
            <a:custGeom>
              <a:avLst/>
              <a:gdLst/>
              <a:ahLst/>
              <a:cxnLst/>
              <a:rect r="r" b="b" t="t" l="l"/>
              <a:pathLst>
                <a:path h="6833870" w="6108065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5949315" y="0"/>
                  </a:lnTo>
                  <a:cubicBezTo>
                    <a:pt x="6036945" y="0"/>
                    <a:pt x="6108065" y="71120"/>
                    <a:pt x="6108065" y="158750"/>
                  </a:cubicBezTo>
                  <a:lnTo>
                    <a:pt x="6108065" y="6675120"/>
                  </a:lnTo>
                  <a:cubicBezTo>
                    <a:pt x="6108065" y="6762876"/>
                    <a:pt x="6036945" y="6833870"/>
                    <a:pt x="5949315" y="6833870"/>
                  </a:cubicBezTo>
                  <a:lnTo>
                    <a:pt x="158750" y="6833870"/>
                  </a:lnTo>
                  <a:cubicBezTo>
                    <a:pt x="71120" y="6833870"/>
                    <a:pt x="0" y="6762750"/>
                    <a:pt x="0" y="6675120"/>
                  </a:cubicBezTo>
                  <a:close/>
                </a:path>
              </a:pathLst>
            </a:custGeom>
            <a:solidFill>
              <a:srgbClr val="EBE2E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120765" cy="6846570"/>
            </a:xfrm>
            <a:custGeom>
              <a:avLst/>
              <a:gdLst/>
              <a:ahLst/>
              <a:cxnLst/>
              <a:rect r="r" b="b" t="t" l="l"/>
              <a:pathLst>
                <a:path h="6846570" w="6120765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5955665" y="0"/>
                  </a:lnTo>
                  <a:lnTo>
                    <a:pt x="5955665" y="6350"/>
                  </a:lnTo>
                  <a:lnTo>
                    <a:pt x="5955665" y="0"/>
                  </a:lnTo>
                  <a:cubicBezTo>
                    <a:pt x="6046851" y="0"/>
                    <a:pt x="6120765" y="73914"/>
                    <a:pt x="6120765" y="165100"/>
                  </a:cubicBezTo>
                  <a:lnTo>
                    <a:pt x="6114415" y="165100"/>
                  </a:lnTo>
                  <a:lnTo>
                    <a:pt x="6120765" y="165100"/>
                  </a:lnTo>
                  <a:lnTo>
                    <a:pt x="6120765" y="6681470"/>
                  </a:lnTo>
                  <a:lnTo>
                    <a:pt x="6114415" y="6681470"/>
                  </a:lnTo>
                  <a:lnTo>
                    <a:pt x="6120765" y="6681470"/>
                  </a:lnTo>
                  <a:cubicBezTo>
                    <a:pt x="6120765" y="6772656"/>
                    <a:pt x="6046851" y="6846570"/>
                    <a:pt x="5955665" y="6846570"/>
                  </a:cubicBezTo>
                  <a:lnTo>
                    <a:pt x="5955665" y="6840220"/>
                  </a:lnTo>
                  <a:lnTo>
                    <a:pt x="5955665" y="6846570"/>
                  </a:lnTo>
                  <a:lnTo>
                    <a:pt x="165100" y="6846570"/>
                  </a:lnTo>
                  <a:lnTo>
                    <a:pt x="165100" y="6840220"/>
                  </a:lnTo>
                  <a:lnTo>
                    <a:pt x="165100" y="6846570"/>
                  </a:lnTo>
                  <a:cubicBezTo>
                    <a:pt x="73914" y="6846570"/>
                    <a:pt x="0" y="6772656"/>
                    <a:pt x="0" y="6681470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681470"/>
                  </a:lnTo>
                  <a:lnTo>
                    <a:pt x="6350" y="6681470"/>
                  </a:lnTo>
                  <a:lnTo>
                    <a:pt x="12700" y="6681470"/>
                  </a:lnTo>
                  <a:cubicBezTo>
                    <a:pt x="12700" y="6765671"/>
                    <a:pt x="80899" y="6833870"/>
                    <a:pt x="165100" y="6833870"/>
                  </a:cubicBezTo>
                  <a:lnTo>
                    <a:pt x="5955665" y="6833870"/>
                  </a:lnTo>
                  <a:cubicBezTo>
                    <a:pt x="6039866" y="6833870"/>
                    <a:pt x="6108065" y="6765671"/>
                    <a:pt x="6108065" y="6681470"/>
                  </a:cubicBezTo>
                  <a:lnTo>
                    <a:pt x="6108065" y="165100"/>
                  </a:lnTo>
                  <a:cubicBezTo>
                    <a:pt x="6108065" y="80899"/>
                    <a:pt x="6039866" y="12700"/>
                    <a:pt x="5955665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D1C8C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149876" y="2561184"/>
            <a:ext cx="3544044" cy="585614"/>
            <a:chOff x="0" y="0"/>
            <a:chExt cx="4725392" cy="78081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725392" cy="780818"/>
            </a:xfrm>
            <a:custGeom>
              <a:avLst/>
              <a:gdLst/>
              <a:ahLst/>
              <a:cxnLst/>
              <a:rect r="r" b="b" t="t" l="l"/>
              <a:pathLst>
                <a:path h="780818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780818"/>
                  </a:lnTo>
                  <a:lnTo>
                    <a:pt x="0" y="780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4725392" cy="79986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062"/>
                </a:lnSpc>
              </a:pPr>
              <a:r>
                <a:rPr lang="en-US" sz="3249" b="true">
                  <a:solidFill>
                    <a:srgbClr val="443728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Core Modules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149876" y="3174206"/>
            <a:ext cx="3994994" cy="1034619"/>
            <a:chOff x="0" y="0"/>
            <a:chExt cx="5326658" cy="13794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326658" cy="1379492"/>
            </a:xfrm>
            <a:custGeom>
              <a:avLst/>
              <a:gdLst/>
              <a:ahLst/>
              <a:cxnLst/>
              <a:rect r="r" b="b" t="t" l="l"/>
              <a:pathLst>
                <a:path h="1379492" w="5326658">
                  <a:moveTo>
                    <a:pt x="0" y="0"/>
                  </a:moveTo>
                  <a:lnTo>
                    <a:pt x="5326658" y="0"/>
                  </a:lnTo>
                  <a:lnTo>
                    <a:pt x="5326658" y="1379492"/>
                  </a:lnTo>
                  <a:lnTo>
                    <a:pt x="0" y="13794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23825"/>
              <a:ext cx="5326658" cy="150331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405307" indent="-202654" lvl="1">
                <a:lnSpc>
                  <a:spcPts val="4376"/>
                </a:lnSpc>
                <a:buFont typeface="Arial"/>
                <a:buChar char="•"/>
              </a:pPr>
              <a:r>
                <a:rPr lang="en-US" sz="2687">
                  <a:solidFill>
                    <a:srgbClr val="443728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neutralize_image() - color cast correction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49876" y="4180582"/>
            <a:ext cx="3994994" cy="1034619"/>
            <a:chOff x="0" y="0"/>
            <a:chExt cx="5326658" cy="13794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326658" cy="1379492"/>
            </a:xfrm>
            <a:custGeom>
              <a:avLst/>
              <a:gdLst/>
              <a:ahLst/>
              <a:cxnLst/>
              <a:rect r="r" b="b" t="t" l="l"/>
              <a:pathLst>
                <a:path h="1379492" w="5326658">
                  <a:moveTo>
                    <a:pt x="0" y="0"/>
                  </a:moveTo>
                  <a:lnTo>
                    <a:pt x="5326658" y="0"/>
                  </a:lnTo>
                  <a:lnTo>
                    <a:pt x="5326658" y="1379492"/>
                  </a:lnTo>
                  <a:lnTo>
                    <a:pt x="0" y="13794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23825"/>
              <a:ext cx="5326658" cy="150331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405307" indent="-202654" lvl="1">
                <a:lnSpc>
                  <a:spcPts val="4376"/>
                </a:lnSpc>
                <a:buFont typeface="Arial"/>
                <a:buChar char="•"/>
              </a:pPr>
              <a:r>
                <a:rPr lang="en-US" sz="2687">
                  <a:solidFill>
                    <a:srgbClr val="443728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Stretching() - intensity segmentation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149876" y="5186958"/>
            <a:ext cx="3994994" cy="1034619"/>
            <a:chOff x="0" y="0"/>
            <a:chExt cx="5326658" cy="13794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326658" cy="1379492"/>
            </a:xfrm>
            <a:custGeom>
              <a:avLst/>
              <a:gdLst/>
              <a:ahLst/>
              <a:cxnLst/>
              <a:rect r="r" b="b" t="t" l="l"/>
              <a:pathLst>
                <a:path h="1379492" w="5326658">
                  <a:moveTo>
                    <a:pt x="0" y="0"/>
                  </a:moveTo>
                  <a:lnTo>
                    <a:pt x="5326658" y="0"/>
                  </a:lnTo>
                  <a:lnTo>
                    <a:pt x="5326658" y="1379492"/>
                  </a:lnTo>
                  <a:lnTo>
                    <a:pt x="0" y="13794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23825"/>
              <a:ext cx="5326658" cy="150331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405307" indent="-202654" lvl="1">
                <a:lnSpc>
                  <a:spcPts val="4376"/>
                </a:lnSpc>
                <a:buFont typeface="Arial"/>
                <a:buChar char="•"/>
              </a:pPr>
              <a:r>
                <a:rPr lang="en-US" sz="2687">
                  <a:solidFill>
                    <a:srgbClr val="443728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pso_image() - pixel intensity optimization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149876" y="6193334"/>
            <a:ext cx="3994994" cy="1034619"/>
            <a:chOff x="0" y="0"/>
            <a:chExt cx="5326658" cy="13794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326658" cy="1379492"/>
            </a:xfrm>
            <a:custGeom>
              <a:avLst/>
              <a:gdLst/>
              <a:ahLst/>
              <a:cxnLst/>
              <a:rect r="r" b="b" t="t" l="l"/>
              <a:pathLst>
                <a:path h="1379492" w="5326658">
                  <a:moveTo>
                    <a:pt x="0" y="0"/>
                  </a:moveTo>
                  <a:lnTo>
                    <a:pt x="5326658" y="0"/>
                  </a:lnTo>
                  <a:lnTo>
                    <a:pt x="5326658" y="1379492"/>
                  </a:lnTo>
                  <a:lnTo>
                    <a:pt x="0" y="13794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23825"/>
              <a:ext cx="5326658" cy="150331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405307" indent="-202654" lvl="1">
                <a:lnSpc>
                  <a:spcPts val="4376"/>
                </a:lnSpc>
                <a:buFont typeface="Arial"/>
                <a:buChar char="•"/>
              </a:pPr>
              <a:r>
                <a:rPr lang="en-US" sz="2687">
                  <a:solidFill>
                    <a:srgbClr val="443728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unsharp_masking() - detail enhancement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87475" y="7672388"/>
            <a:ext cx="9455051" cy="1662261"/>
            <a:chOff x="0" y="0"/>
            <a:chExt cx="12606735" cy="221634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6350" y="6350"/>
              <a:ext cx="12594082" cy="2203577"/>
            </a:xfrm>
            <a:custGeom>
              <a:avLst/>
              <a:gdLst/>
              <a:ahLst/>
              <a:cxnLst/>
              <a:rect r="r" b="b" t="t" l="l"/>
              <a:pathLst>
                <a:path h="2203577" w="12594082">
                  <a:moveTo>
                    <a:pt x="0" y="158750"/>
                  </a:moveTo>
                  <a:cubicBezTo>
                    <a:pt x="0" y="71120"/>
                    <a:pt x="71374" y="0"/>
                    <a:pt x="159512" y="0"/>
                  </a:cubicBezTo>
                  <a:lnTo>
                    <a:pt x="12434570" y="0"/>
                  </a:lnTo>
                  <a:cubicBezTo>
                    <a:pt x="12522708" y="0"/>
                    <a:pt x="12594082" y="71120"/>
                    <a:pt x="12594082" y="158750"/>
                  </a:cubicBezTo>
                  <a:lnTo>
                    <a:pt x="12594082" y="2044827"/>
                  </a:lnTo>
                  <a:cubicBezTo>
                    <a:pt x="12594082" y="2132457"/>
                    <a:pt x="12522708" y="2203577"/>
                    <a:pt x="12434570" y="2203577"/>
                  </a:cubicBezTo>
                  <a:lnTo>
                    <a:pt x="159512" y="2203577"/>
                  </a:lnTo>
                  <a:cubicBezTo>
                    <a:pt x="71374" y="2203577"/>
                    <a:pt x="0" y="2132457"/>
                    <a:pt x="0" y="2044827"/>
                  </a:cubicBezTo>
                  <a:close/>
                </a:path>
              </a:pathLst>
            </a:custGeom>
            <a:solidFill>
              <a:srgbClr val="EBE2E0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606782" cy="2216277"/>
            </a:xfrm>
            <a:custGeom>
              <a:avLst/>
              <a:gdLst/>
              <a:ahLst/>
              <a:cxnLst/>
              <a:rect r="r" b="b" t="t" l="l"/>
              <a:pathLst>
                <a:path h="2216277" w="12606782">
                  <a:moveTo>
                    <a:pt x="0" y="165100"/>
                  </a:moveTo>
                  <a:cubicBezTo>
                    <a:pt x="0" y="73914"/>
                    <a:pt x="74295" y="0"/>
                    <a:pt x="165862" y="0"/>
                  </a:cubicBezTo>
                  <a:lnTo>
                    <a:pt x="12440920" y="0"/>
                  </a:lnTo>
                  <a:lnTo>
                    <a:pt x="12440920" y="6350"/>
                  </a:lnTo>
                  <a:lnTo>
                    <a:pt x="12440920" y="0"/>
                  </a:lnTo>
                  <a:cubicBezTo>
                    <a:pt x="12532487" y="0"/>
                    <a:pt x="12606782" y="73914"/>
                    <a:pt x="12606782" y="165100"/>
                  </a:cubicBezTo>
                  <a:lnTo>
                    <a:pt x="12600432" y="165100"/>
                  </a:lnTo>
                  <a:lnTo>
                    <a:pt x="12606782" y="165100"/>
                  </a:lnTo>
                  <a:lnTo>
                    <a:pt x="12606782" y="2051177"/>
                  </a:lnTo>
                  <a:lnTo>
                    <a:pt x="12600432" y="2051177"/>
                  </a:lnTo>
                  <a:lnTo>
                    <a:pt x="12606782" y="2051177"/>
                  </a:lnTo>
                  <a:cubicBezTo>
                    <a:pt x="12606782" y="2142363"/>
                    <a:pt x="12532487" y="2216277"/>
                    <a:pt x="12440920" y="2216277"/>
                  </a:cubicBezTo>
                  <a:lnTo>
                    <a:pt x="12440920" y="2209927"/>
                  </a:lnTo>
                  <a:lnTo>
                    <a:pt x="12440920" y="2216277"/>
                  </a:lnTo>
                  <a:lnTo>
                    <a:pt x="165862" y="2216277"/>
                  </a:lnTo>
                  <a:lnTo>
                    <a:pt x="165862" y="2209927"/>
                  </a:lnTo>
                  <a:lnTo>
                    <a:pt x="165862" y="2216277"/>
                  </a:lnTo>
                  <a:cubicBezTo>
                    <a:pt x="74295" y="2216277"/>
                    <a:pt x="0" y="2142363"/>
                    <a:pt x="0" y="2051177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051177"/>
                  </a:lnTo>
                  <a:lnTo>
                    <a:pt x="6350" y="2051177"/>
                  </a:lnTo>
                  <a:lnTo>
                    <a:pt x="12700" y="2051177"/>
                  </a:lnTo>
                  <a:cubicBezTo>
                    <a:pt x="12700" y="2135378"/>
                    <a:pt x="81280" y="2203577"/>
                    <a:pt x="165862" y="2203577"/>
                  </a:cubicBezTo>
                  <a:lnTo>
                    <a:pt x="12440920" y="2203577"/>
                  </a:lnTo>
                  <a:cubicBezTo>
                    <a:pt x="12525501" y="2203577"/>
                    <a:pt x="12594082" y="2135251"/>
                    <a:pt x="12594082" y="2051177"/>
                  </a:cubicBezTo>
                  <a:lnTo>
                    <a:pt x="12594082" y="165100"/>
                  </a:lnTo>
                  <a:cubicBezTo>
                    <a:pt x="12594082" y="80899"/>
                    <a:pt x="12525501" y="12700"/>
                    <a:pt x="12440920" y="12700"/>
                  </a:cubicBezTo>
                  <a:lnTo>
                    <a:pt x="165862" y="12700"/>
                  </a:lnTo>
                  <a:lnTo>
                    <a:pt x="165862" y="6350"/>
                  </a:lnTo>
                  <a:lnTo>
                    <a:pt x="165862" y="12700"/>
                  </a:lnTo>
                  <a:cubicBezTo>
                    <a:pt x="81280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D1C8C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85280" y="7970192"/>
            <a:ext cx="3544044" cy="585614"/>
            <a:chOff x="0" y="0"/>
            <a:chExt cx="4725392" cy="78081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725392" cy="780818"/>
            </a:xfrm>
            <a:custGeom>
              <a:avLst/>
              <a:gdLst/>
              <a:ahLst/>
              <a:cxnLst/>
              <a:rect r="r" b="b" t="t" l="l"/>
              <a:pathLst>
                <a:path h="780818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780818"/>
                  </a:lnTo>
                  <a:lnTo>
                    <a:pt x="0" y="780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4725392" cy="79986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062"/>
                </a:lnSpc>
              </a:pPr>
              <a:r>
                <a:rPr lang="en-US" sz="3249" b="true">
                  <a:solidFill>
                    <a:srgbClr val="443728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Dataset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85280" y="8583216"/>
            <a:ext cx="8859441" cy="482169"/>
            <a:chOff x="0" y="0"/>
            <a:chExt cx="11812588" cy="6428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812588" cy="642892"/>
            </a:xfrm>
            <a:custGeom>
              <a:avLst/>
              <a:gdLst/>
              <a:ahLst/>
              <a:cxnLst/>
              <a:rect r="r" b="b" t="t" l="l"/>
              <a:pathLst>
                <a:path h="642892" w="11812588">
                  <a:moveTo>
                    <a:pt x="0" y="0"/>
                  </a:moveTo>
                  <a:lnTo>
                    <a:pt x="11812588" y="0"/>
                  </a:lnTo>
                  <a:lnTo>
                    <a:pt x="11812588" y="642892"/>
                  </a:lnTo>
                  <a:lnTo>
                    <a:pt x="0" y="6428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23825"/>
              <a:ext cx="11812588" cy="76671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376"/>
                </a:lnSpc>
              </a:pPr>
              <a:r>
                <a:rPr lang="en-US" sz="2687">
                  <a:solidFill>
                    <a:srgbClr val="443728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Real underwater images from aquatic environments.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7" y="705891"/>
            <a:ext cx="11288762" cy="1163185"/>
            <a:chOff x="0" y="0"/>
            <a:chExt cx="15051683" cy="15509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051684" cy="1550914"/>
            </a:xfrm>
            <a:custGeom>
              <a:avLst/>
              <a:gdLst/>
              <a:ahLst/>
              <a:cxnLst/>
              <a:rect r="r" b="b" t="t" l="l"/>
              <a:pathLst>
                <a:path h="1550914" w="15051684">
                  <a:moveTo>
                    <a:pt x="0" y="0"/>
                  </a:moveTo>
                  <a:lnTo>
                    <a:pt x="15051684" y="0"/>
                  </a:lnTo>
                  <a:lnTo>
                    <a:pt x="15051684" y="1550914"/>
                  </a:lnTo>
                  <a:lnTo>
                    <a:pt x="0" y="15509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5051683" cy="157948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8059"/>
                </a:lnSpc>
              </a:pPr>
              <a:r>
                <a:rPr lang="en-US" sz="6462" b="true">
                  <a:solidFill>
                    <a:srgbClr val="443728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Results and Analysis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92237" y="2466997"/>
            <a:ext cx="4944219" cy="651534"/>
            <a:chOff x="0" y="0"/>
            <a:chExt cx="6592292" cy="86871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592292" cy="868712"/>
            </a:xfrm>
            <a:custGeom>
              <a:avLst/>
              <a:gdLst/>
              <a:ahLst/>
              <a:cxnLst/>
              <a:rect r="r" b="b" t="t" l="l"/>
              <a:pathLst>
                <a:path h="868712" w="6592292">
                  <a:moveTo>
                    <a:pt x="0" y="0"/>
                  </a:moveTo>
                  <a:lnTo>
                    <a:pt x="6592292" y="0"/>
                  </a:lnTo>
                  <a:lnTo>
                    <a:pt x="6592292" y="868712"/>
                  </a:lnTo>
                  <a:lnTo>
                    <a:pt x="0" y="8687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6592292" cy="89728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562"/>
                </a:lnSpc>
              </a:pPr>
              <a:r>
                <a:rPr lang="en-US" sz="3649" b="true">
                  <a:solidFill>
                    <a:srgbClr val="443728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Visual Improvement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92237" y="3349473"/>
            <a:ext cx="7805886" cy="1195609"/>
            <a:chOff x="0" y="0"/>
            <a:chExt cx="10407848" cy="159414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07848" cy="1594145"/>
            </a:xfrm>
            <a:custGeom>
              <a:avLst/>
              <a:gdLst/>
              <a:ahLst/>
              <a:cxnLst/>
              <a:rect r="r" b="b" t="t" l="l"/>
              <a:pathLst>
                <a:path h="1594145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1594145"/>
                  </a:lnTo>
                  <a:lnTo>
                    <a:pt x="0" y="15941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42875"/>
              <a:ext cx="10407848" cy="173702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028"/>
                </a:lnSpc>
              </a:pPr>
              <a:r>
                <a:rPr lang="en-US" sz="3087">
                  <a:solidFill>
                    <a:srgbClr val="443728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Significant visibility and sharpness enhancements observed.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63637" y="4586066"/>
            <a:ext cx="7805886" cy="557434"/>
            <a:chOff x="0" y="0"/>
            <a:chExt cx="10407848" cy="7432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07848" cy="743245"/>
            </a:xfrm>
            <a:custGeom>
              <a:avLst/>
              <a:gdLst/>
              <a:ahLst/>
              <a:cxnLst/>
              <a:rect r="r" b="b" t="t" l="l"/>
              <a:pathLst>
                <a:path h="743245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743245"/>
                  </a:lnTo>
                  <a:lnTo>
                    <a:pt x="0" y="7432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42875"/>
              <a:ext cx="10407848" cy="88612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465631" indent="-232815" lvl="1">
                <a:lnSpc>
                  <a:spcPts val="5028"/>
                </a:lnSpc>
                <a:buFont typeface="Arial"/>
                <a:buChar char="•"/>
              </a:pPr>
              <a:r>
                <a:rPr lang="en-US" sz="3087">
                  <a:solidFill>
                    <a:srgbClr val="443728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Balanced color tones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851753" y="2424512"/>
            <a:ext cx="5487144" cy="694020"/>
            <a:chOff x="0" y="0"/>
            <a:chExt cx="7316192" cy="9253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16192" cy="925360"/>
            </a:xfrm>
            <a:custGeom>
              <a:avLst/>
              <a:gdLst/>
              <a:ahLst/>
              <a:cxnLst/>
              <a:rect r="r" b="b" t="t" l="l"/>
              <a:pathLst>
                <a:path h="925360" w="7316192">
                  <a:moveTo>
                    <a:pt x="0" y="0"/>
                  </a:moveTo>
                  <a:lnTo>
                    <a:pt x="7316192" y="0"/>
                  </a:lnTo>
                  <a:lnTo>
                    <a:pt x="7316192" y="925360"/>
                  </a:lnTo>
                  <a:lnTo>
                    <a:pt x="0" y="9253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7316192" cy="95393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812"/>
                </a:lnSpc>
              </a:pPr>
              <a:r>
                <a:rPr lang="en-US" sz="3849" b="true">
                  <a:solidFill>
                    <a:srgbClr val="443728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Quantitative Analysis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453414" y="3349473"/>
            <a:ext cx="7805886" cy="1195609"/>
            <a:chOff x="0" y="0"/>
            <a:chExt cx="10407848" cy="159414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407848" cy="1594145"/>
            </a:xfrm>
            <a:custGeom>
              <a:avLst/>
              <a:gdLst/>
              <a:ahLst/>
              <a:cxnLst/>
              <a:rect r="r" b="b" t="t" l="l"/>
              <a:pathLst>
                <a:path h="1594145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1594145"/>
                  </a:lnTo>
                  <a:lnTo>
                    <a:pt x="0" y="15941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42875"/>
              <a:ext cx="10407848" cy="173702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028"/>
                </a:lnSpc>
              </a:pPr>
              <a:r>
                <a:rPr lang="en-US" sz="3087">
                  <a:solidFill>
                    <a:srgbClr val="443728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Contrast histograms and channel distributions show uniform enhancement.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9851753" y="5257800"/>
            <a:ext cx="6725852" cy="4928869"/>
          </a:xfrm>
          <a:custGeom>
            <a:avLst/>
            <a:gdLst/>
            <a:ahLst/>
            <a:cxnLst/>
            <a:rect r="r" b="b" t="t" l="l"/>
            <a:pathLst>
              <a:path h="4928869" w="6725852">
                <a:moveTo>
                  <a:pt x="0" y="0"/>
                </a:moveTo>
                <a:lnTo>
                  <a:pt x="6725852" y="0"/>
                </a:lnTo>
                <a:lnTo>
                  <a:pt x="6725852" y="4928869"/>
                </a:lnTo>
                <a:lnTo>
                  <a:pt x="0" y="4928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614362" y="5257800"/>
            <a:ext cx="6725852" cy="4928869"/>
          </a:xfrm>
          <a:custGeom>
            <a:avLst/>
            <a:gdLst/>
            <a:ahLst/>
            <a:cxnLst/>
            <a:rect r="r" b="b" t="t" l="l"/>
            <a:pathLst>
              <a:path h="4928869" w="6725852">
                <a:moveTo>
                  <a:pt x="0" y="0"/>
                </a:moveTo>
                <a:lnTo>
                  <a:pt x="6725853" y="0"/>
                </a:lnTo>
                <a:lnTo>
                  <a:pt x="6725853" y="4928869"/>
                </a:lnTo>
                <a:lnTo>
                  <a:pt x="0" y="49288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7" y="2239416"/>
            <a:ext cx="14388554" cy="1108875"/>
            <a:chOff x="0" y="0"/>
            <a:chExt cx="19184738" cy="14785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184739" cy="1478501"/>
            </a:xfrm>
            <a:custGeom>
              <a:avLst/>
              <a:gdLst/>
              <a:ahLst/>
              <a:cxnLst/>
              <a:rect r="r" b="b" t="t" l="l"/>
              <a:pathLst>
                <a:path h="1478501" w="19184739">
                  <a:moveTo>
                    <a:pt x="0" y="0"/>
                  </a:moveTo>
                  <a:lnTo>
                    <a:pt x="19184739" y="0"/>
                  </a:lnTo>
                  <a:lnTo>
                    <a:pt x="19184739" y="1478501"/>
                  </a:lnTo>
                  <a:lnTo>
                    <a:pt x="0" y="14785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184738" cy="151660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685"/>
                </a:lnSpc>
              </a:pPr>
              <a:r>
                <a:rPr lang="en-US" sz="6162" b="true">
                  <a:solidFill>
                    <a:srgbClr val="443728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Existing Techniques &amp; Applications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92237" y="3834110"/>
            <a:ext cx="6155531" cy="597331"/>
            <a:chOff x="0" y="0"/>
            <a:chExt cx="8207375" cy="7964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207375" cy="796442"/>
            </a:xfrm>
            <a:custGeom>
              <a:avLst/>
              <a:gdLst/>
              <a:ahLst/>
              <a:cxnLst/>
              <a:rect r="r" b="b" t="t" l="l"/>
              <a:pathLst>
                <a:path h="796442" w="8207375">
                  <a:moveTo>
                    <a:pt x="0" y="0"/>
                  </a:moveTo>
                  <a:lnTo>
                    <a:pt x="8207375" y="0"/>
                  </a:lnTo>
                  <a:lnTo>
                    <a:pt x="8207375" y="796442"/>
                  </a:lnTo>
                  <a:lnTo>
                    <a:pt x="0" y="796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8207375" cy="81549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187"/>
                </a:lnSpc>
              </a:pPr>
              <a:r>
                <a:rPr lang="en-US" sz="3349" b="true">
                  <a:solidFill>
                    <a:srgbClr val="443728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Enhancement Techniques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92238" y="4560540"/>
            <a:ext cx="7805886" cy="1070104"/>
            <a:chOff x="0" y="0"/>
            <a:chExt cx="10407848" cy="142680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07848" cy="1426805"/>
            </a:xfrm>
            <a:custGeom>
              <a:avLst/>
              <a:gdLst/>
              <a:ahLst/>
              <a:cxnLst/>
              <a:rect r="r" b="b" t="t" l="l"/>
              <a:pathLst>
                <a:path h="1426805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1426805"/>
                  </a:lnTo>
                  <a:lnTo>
                    <a:pt x="0" y="14268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23825"/>
              <a:ext cx="10407848" cy="155063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601819" indent="-300909" lvl="1">
                <a:lnSpc>
                  <a:spcPts val="4539"/>
                </a:lnSpc>
                <a:buFont typeface="Arial"/>
                <a:buChar char="•"/>
              </a:pPr>
              <a:r>
                <a:rPr lang="en-US" sz="2787">
                  <a:solidFill>
                    <a:srgbClr val="443728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Histogram Equalization improves global contrast but amplifies noise.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92238" y="5722888"/>
            <a:ext cx="7805886" cy="1070104"/>
            <a:chOff x="0" y="0"/>
            <a:chExt cx="10407848" cy="142680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07848" cy="1426805"/>
            </a:xfrm>
            <a:custGeom>
              <a:avLst/>
              <a:gdLst/>
              <a:ahLst/>
              <a:cxnLst/>
              <a:rect r="r" b="b" t="t" l="l"/>
              <a:pathLst>
                <a:path h="1426805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1426805"/>
                  </a:lnTo>
                  <a:lnTo>
                    <a:pt x="0" y="14268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23825"/>
              <a:ext cx="10407848" cy="155063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601819" indent="-300909" lvl="1">
                <a:lnSpc>
                  <a:spcPts val="4539"/>
                </a:lnSpc>
                <a:buFont typeface="Arial"/>
                <a:buChar char="•"/>
              </a:pPr>
              <a:r>
                <a:rPr lang="en-US" sz="2787">
                  <a:solidFill>
                    <a:srgbClr val="443728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CLAHE offers local contrast improvement and noise control.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92238" y="6885235"/>
            <a:ext cx="7805886" cy="1070104"/>
            <a:chOff x="0" y="0"/>
            <a:chExt cx="10407848" cy="142680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407848" cy="1426805"/>
            </a:xfrm>
            <a:custGeom>
              <a:avLst/>
              <a:gdLst/>
              <a:ahLst/>
              <a:cxnLst/>
              <a:rect r="r" b="b" t="t" l="l"/>
              <a:pathLst>
                <a:path h="1426805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1426805"/>
                  </a:lnTo>
                  <a:lnTo>
                    <a:pt x="0" y="14268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23825"/>
              <a:ext cx="10407848" cy="155063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601819" indent="-300909" lvl="1">
                <a:lnSpc>
                  <a:spcPts val="4539"/>
                </a:lnSpc>
                <a:buFont typeface="Arial"/>
                <a:buChar char="•"/>
              </a:pPr>
              <a:r>
                <a:rPr lang="en-US" sz="2787">
                  <a:solidFill>
                    <a:srgbClr val="443728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Limitations include color imbalance and reduced clarity in complex scenes.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499401" y="3834110"/>
            <a:ext cx="3544044" cy="597331"/>
            <a:chOff x="0" y="0"/>
            <a:chExt cx="4725392" cy="79644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725392" cy="796442"/>
            </a:xfrm>
            <a:custGeom>
              <a:avLst/>
              <a:gdLst/>
              <a:ahLst/>
              <a:cxnLst/>
              <a:rect r="r" b="b" t="t" l="l"/>
              <a:pathLst>
                <a:path h="796442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796442"/>
                  </a:lnTo>
                  <a:lnTo>
                    <a:pt x="0" y="796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4725392" cy="81549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187"/>
                </a:lnSpc>
              </a:pPr>
              <a:r>
                <a:rPr lang="en-US" sz="3349" b="true">
                  <a:solidFill>
                    <a:srgbClr val="443728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Applications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99401" y="4560540"/>
            <a:ext cx="7805886" cy="498604"/>
            <a:chOff x="0" y="0"/>
            <a:chExt cx="10407848" cy="66480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407848" cy="664805"/>
            </a:xfrm>
            <a:custGeom>
              <a:avLst/>
              <a:gdLst/>
              <a:ahLst/>
              <a:cxnLst/>
              <a:rect r="r" b="b" t="t" l="l"/>
              <a:pathLst>
                <a:path h="664805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64805"/>
                  </a:lnTo>
                  <a:lnTo>
                    <a:pt x="0" y="6648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23825"/>
              <a:ext cx="10407848" cy="78863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420388" indent="-210194" lvl="1">
                <a:lnSpc>
                  <a:spcPts val="4539"/>
                </a:lnSpc>
                <a:buFont typeface="Arial"/>
                <a:buChar char="•"/>
              </a:pPr>
              <a:r>
                <a:rPr lang="en-US" sz="2787">
                  <a:solidFill>
                    <a:srgbClr val="443728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Marine Biology and Coral Monitoring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499401" y="5113287"/>
            <a:ext cx="7805886" cy="498604"/>
            <a:chOff x="0" y="0"/>
            <a:chExt cx="10407848" cy="66480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407848" cy="664805"/>
            </a:xfrm>
            <a:custGeom>
              <a:avLst/>
              <a:gdLst/>
              <a:ahLst/>
              <a:cxnLst/>
              <a:rect r="r" b="b" t="t" l="l"/>
              <a:pathLst>
                <a:path h="664805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64805"/>
                  </a:lnTo>
                  <a:lnTo>
                    <a:pt x="0" y="6648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23825"/>
              <a:ext cx="10407848" cy="78863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420388" indent="-210194" lvl="1">
                <a:lnSpc>
                  <a:spcPts val="4539"/>
                </a:lnSpc>
                <a:buFont typeface="Arial"/>
                <a:buChar char="•"/>
              </a:pPr>
              <a:r>
                <a:rPr lang="en-US" sz="2787">
                  <a:solidFill>
                    <a:srgbClr val="443728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Underwater Robotics and Navigation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499401" y="5666035"/>
            <a:ext cx="7805886" cy="498604"/>
            <a:chOff x="0" y="0"/>
            <a:chExt cx="10407848" cy="66480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407848" cy="664805"/>
            </a:xfrm>
            <a:custGeom>
              <a:avLst/>
              <a:gdLst/>
              <a:ahLst/>
              <a:cxnLst/>
              <a:rect r="r" b="b" t="t" l="l"/>
              <a:pathLst>
                <a:path h="664805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64805"/>
                  </a:lnTo>
                  <a:lnTo>
                    <a:pt x="0" y="6648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23825"/>
              <a:ext cx="10407848" cy="78863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420388" indent="-210194" lvl="1">
                <a:lnSpc>
                  <a:spcPts val="4539"/>
                </a:lnSpc>
                <a:buFont typeface="Arial"/>
                <a:buChar char="•"/>
              </a:pPr>
              <a:r>
                <a:rPr lang="en-US" sz="2787">
                  <a:solidFill>
                    <a:srgbClr val="443728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Submerged Archaeology Documentation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499401" y="6218784"/>
            <a:ext cx="7805886" cy="498604"/>
            <a:chOff x="0" y="0"/>
            <a:chExt cx="10407848" cy="66480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407848" cy="664805"/>
            </a:xfrm>
            <a:custGeom>
              <a:avLst/>
              <a:gdLst/>
              <a:ahLst/>
              <a:cxnLst/>
              <a:rect r="r" b="b" t="t" l="l"/>
              <a:pathLst>
                <a:path h="664805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64805"/>
                  </a:lnTo>
                  <a:lnTo>
                    <a:pt x="0" y="6648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23825"/>
              <a:ext cx="10407848" cy="78863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420388" indent="-210194" lvl="1">
                <a:lnSpc>
                  <a:spcPts val="4539"/>
                </a:lnSpc>
                <a:buFont typeface="Arial"/>
                <a:buChar char="•"/>
              </a:pPr>
              <a:r>
                <a:rPr lang="en-US" sz="2787">
                  <a:solidFill>
                    <a:srgbClr val="443728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Defense and Surveillance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7" y="2825800"/>
            <a:ext cx="11302752" cy="1141907"/>
            <a:chOff x="0" y="0"/>
            <a:chExt cx="15070337" cy="15225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070337" cy="1522543"/>
            </a:xfrm>
            <a:custGeom>
              <a:avLst/>
              <a:gdLst/>
              <a:ahLst/>
              <a:cxnLst/>
              <a:rect r="r" b="b" t="t" l="l"/>
              <a:pathLst>
                <a:path h="1522543" w="15070337">
                  <a:moveTo>
                    <a:pt x="0" y="0"/>
                  </a:moveTo>
                  <a:lnTo>
                    <a:pt x="15070337" y="0"/>
                  </a:lnTo>
                  <a:lnTo>
                    <a:pt x="15070337" y="1522543"/>
                  </a:lnTo>
                  <a:lnTo>
                    <a:pt x="0" y="15225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070337" cy="156064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935"/>
                </a:lnSpc>
              </a:pPr>
              <a:r>
                <a:rPr lang="en-US" sz="6362" b="true">
                  <a:solidFill>
                    <a:srgbClr val="443728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Conclusion and References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92237" y="4136975"/>
            <a:ext cx="16303526" cy="1141074"/>
            <a:chOff x="0" y="0"/>
            <a:chExt cx="21738035" cy="15214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38034" cy="1521432"/>
            </a:xfrm>
            <a:custGeom>
              <a:avLst/>
              <a:gdLst/>
              <a:ahLst/>
              <a:cxnLst/>
              <a:rect r="r" b="b" t="t" l="l"/>
              <a:pathLst>
                <a:path h="1521432" w="21738034">
                  <a:moveTo>
                    <a:pt x="0" y="0"/>
                  </a:moveTo>
                  <a:lnTo>
                    <a:pt x="21738034" y="0"/>
                  </a:lnTo>
                  <a:lnTo>
                    <a:pt x="21738034" y="1521432"/>
                  </a:lnTo>
                  <a:lnTo>
                    <a:pt x="0" y="15214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33350"/>
              <a:ext cx="21738035" cy="165478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644997" indent="-322499" lvl="1">
                <a:lnSpc>
                  <a:spcPts val="4865"/>
                </a:lnSpc>
                <a:buFont typeface="Arial"/>
                <a:buChar char="•"/>
              </a:pPr>
              <a:r>
                <a:rPr lang="en-US" sz="2987">
                  <a:solidFill>
                    <a:srgbClr val="443728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NUCE combined with PSO effectively enhances underwater images compared to conventional methods.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5538267"/>
            <a:ext cx="16303526" cy="531474"/>
            <a:chOff x="0" y="0"/>
            <a:chExt cx="21738035" cy="70863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738034" cy="708632"/>
            </a:xfrm>
            <a:custGeom>
              <a:avLst/>
              <a:gdLst/>
              <a:ahLst/>
              <a:cxnLst/>
              <a:rect r="r" b="b" t="t" l="l"/>
              <a:pathLst>
                <a:path h="708632" w="21738034">
                  <a:moveTo>
                    <a:pt x="0" y="0"/>
                  </a:moveTo>
                  <a:lnTo>
                    <a:pt x="21738034" y="0"/>
                  </a:lnTo>
                  <a:lnTo>
                    <a:pt x="21738034" y="708632"/>
                  </a:lnTo>
                  <a:lnTo>
                    <a:pt x="0" y="7086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33350"/>
              <a:ext cx="21738035" cy="84198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644997" indent="-322499" lvl="1">
                <a:lnSpc>
                  <a:spcPts val="4865"/>
                </a:lnSpc>
                <a:buFont typeface="Arial"/>
                <a:buChar char="•"/>
              </a:pPr>
              <a:r>
                <a:rPr lang="en-US" sz="2987">
                  <a:solidFill>
                    <a:srgbClr val="443728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Improves contrast, color fidelity, and edge clarity with minimal artifacts.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6329958"/>
            <a:ext cx="16303526" cy="590303"/>
            <a:chOff x="0" y="0"/>
            <a:chExt cx="21738035" cy="78707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738034" cy="787071"/>
            </a:xfrm>
            <a:custGeom>
              <a:avLst/>
              <a:gdLst/>
              <a:ahLst/>
              <a:cxnLst/>
              <a:rect r="r" b="b" t="t" l="l"/>
              <a:pathLst>
                <a:path h="787071" w="21738034">
                  <a:moveTo>
                    <a:pt x="0" y="0"/>
                  </a:moveTo>
                  <a:lnTo>
                    <a:pt x="21738034" y="0"/>
                  </a:lnTo>
                  <a:lnTo>
                    <a:pt x="21738034" y="787071"/>
                  </a:lnTo>
                  <a:lnTo>
                    <a:pt x="0" y="7870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33350"/>
              <a:ext cx="21738035" cy="92042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353"/>
                </a:lnSpc>
              </a:pPr>
              <a:r>
                <a:rPr lang="en-US" sz="3287" b="true">
                  <a:solidFill>
                    <a:srgbClr val="443728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REFERENCES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" y="7156557"/>
            <a:ext cx="16303526" cy="531474"/>
            <a:chOff x="0" y="0"/>
            <a:chExt cx="21738035" cy="70863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738034" cy="708632"/>
            </a:xfrm>
            <a:custGeom>
              <a:avLst/>
              <a:gdLst/>
              <a:ahLst/>
              <a:cxnLst/>
              <a:rect r="r" b="b" t="t" l="l"/>
              <a:pathLst>
                <a:path h="708632" w="21738034">
                  <a:moveTo>
                    <a:pt x="0" y="0"/>
                  </a:moveTo>
                  <a:lnTo>
                    <a:pt x="21738034" y="0"/>
                  </a:lnTo>
                  <a:lnTo>
                    <a:pt x="21738034" y="708632"/>
                  </a:lnTo>
                  <a:lnTo>
                    <a:pt x="0" y="7086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33350"/>
              <a:ext cx="21738035" cy="84198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450550" indent="-225275" lvl="1">
                <a:lnSpc>
                  <a:spcPts val="4865"/>
                </a:lnSpc>
                <a:buFont typeface="Arial"/>
                <a:buChar char="•"/>
              </a:pPr>
              <a:r>
                <a:rPr lang="en-US" sz="2987" u="sng">
                  <a:solidFill>
                    <a:srgbClr val="835E54"/>
                  </a:solidFill>
                  <a:latin typeface="Georgia Pro"/>
                  <a:ea typeface="Georgia Pro"/>
                  <a:cs typeface="Georgia Pro"/>
                  <a:sym typeface="Georgia Pro"/>
                  <a:hlinkClick r:id="rId3" tooltip="https://www.sciencedirect.com/science/article/pii/S0952197623016299"/>
                </a:rPr>
                <a:t>ScienceDirect - Underwater Image Enhancement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28700" y="7750374"/>
            <a:ext cx="16303526" cy="531474"/>
            <a:chOff x="0" y="0"/>
            <a:chExt cx="21738035" cy="70863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738034" cy="708632"/>
            </a:xfrm>
            <a:custGeom>
              <a:avLst/>
              <a:gdLst/>
              <a:ahLst/>
              <a:cxnLst/>
              <a:rect r="r" b="b" t="t" l="l"/>
              <a:pathLst>
                <a:path h="708632" w="21738034">
                  <a:moveTo>
                    <a:pt x="0" y="0"/>
                  </a:moveTo>
                  <a:lnTo>
                    <a:pt x="21738034" y="0"/>
                  </a:lnTo>
                  <a:lnTo>
                    <a:pt x="21738034" y="708632"/>
                  </a:lnTo>
                  <a:lnTo>
                    <a:pt x="0" y="7086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33350"/>
              <a:ext cx="21738035" cy="84198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450550" indent="-225275" lvl="1">
                <a:lnSpc>
                  <a:spcPts val="4865"/>
                </a:lnSpc>
                <a:buFont typeface="Arial"/>
                <a:buChar char="•"/>
              </a:pPr>
              <a:r>
                <a:rPr lang="en-US" sz="2987">
                  <a:solidFill>
                    <a:srgbClr val="443728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ResearchGate - Swarm Intelligence in Image Enhancement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356026" y="3043163"/>
            <a:ext cx="7575947" cy="2855574"/>
            <a:chOff x="0" y="0"/>
            <a:chExt cx="10101263" cy="38074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01263" cy="3807431"/>
            </a:xfrm>
            <a:custGeom>
              <a:avLst/>
              <a:gdLst/>
              <a:ahLst/>
              <a:cxnLst/>
              <a:rect r="r" b="b" t="t" l="l"/>
              <a:pathLst>
                <a:path h="3807431" w="10101263">
                  <a:moveTo>
                    <a:pt x="0" y="0"/>
                  </a:moveTo>
                  <a:lnTo>
                    <a:pt x="10101263" y="0"/>
                  </a:lnTo>
                  <a:lnTo>
                    <a:pt x="10101263" y="3807431"/>
                  </a:lnTo>
                  <a:lnTo>
                    <a:pt x="0" y="38074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101263" cy="385505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10554"/>
                </a:lnSpc>
              </a:pPr>
              <a:r>
                <a:rPr lang="en-US" sz="8462" b="true">
                  <a:solidFill>
                    <a:srgbClr val="443728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                           THANK YOU 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DAGm2YxhHNA</dc:identifier>
  <dcterms:modified xsi:type="dcterms:W3CDTF">2011-08-01T06:04:30Z</dcterms:modified>
  <cp:revision>1</cp:revision>
  <dc:title>Major_Project_PPT</dc:title>
</cp:coreProperties>
</file>